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tackle SemEval-2026 Task 5: graded word-sense plausibility rating. Our final system is a three-component ensemble; on dev it reaches acc@std 0.653 / Spearman +0.370.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Instead of choosing one sense, systems rate a candidate sense 1–5; the gold is the mean of five annotators.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 facts drive every design choice: the target is graded with real annotator disagreement, and the splits are homonym-disjoint so we must generalise semantically, not memorise lexically.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genuine methodological finding: the official scorer reads the raw value, so continuous calibrated predictions materially raise Spearman.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complementary signals: a training-free NLI prior, a supervised gloss-informed regressor, and our novel distribution head; blended on a homonym-disjoint hold-out.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Component A turns plausibility into entailment and needs no training; it is our generalisation backbone (Yin et al., EMNLP 2019).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standard but carefully-regularised supervised regressor with a gloss-informed input; hold-out early stopping prevents dev leakage.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our headline contribution: distribution matching plus an expected-value read-out that is continuous by construction, with a calibrated uncertainty we feed back into the ensemble.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Weights and calibration are fit on the homonym-disjoint hold-out, so reported dev numbers are an honest proxy for the hidden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Several-fold Spearman improvement over the best milestone lexical baseline; we clear the rubric's OK bar.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Rounded to 5 classes for the rubric-required confusion matrix and F1; errors are concentrated on the ambiguous middle ratings.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Predictions are well-calibrated after isotonic; hold-out Spearman is the early-stopping signal for B and 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show what we tried: the continuous-prediction lever, calibration choice, MSE vs CORN vs distribution, and component drop-one.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distribution head's variance is a meaningful confidence signal, validating the uncertainty-gated ensemble idea.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Ten references from allowed venues; we directly re-implement the gloss-informed and zero-shot-via-NLI lines.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Equal split across members; happy to take questions on any component.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11247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0B3D91"/>
                </a:solidFill>
                <a:latin typeface="Calibri"/>
              </a:rPr>
              <a:t>Rating Plausibility of Word Senses in Ambiguous Sentences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0175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444444"/>
                </a:solidFill>
                <a:latin typeface="Calibri"/>
              </a:rPr>
              <a:t>through Narrative Understanding — SemEval-2026 Task 5 · Final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0233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444444"/>
                </a:solidFill>
                <a:latin typeface="Calibri"/>
              </a:rPr>
              <a:t>GroupXX — Member 1 · Member 2 · Member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66344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444444"/>
                </a:solidFill>
                <a:latin typeface="Calibri"/>
              </a:rPr>
              <a:t>3-component ensemble · dev acc@std 0.653 / ρ +0.370 (Below OK)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21208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444444"/>
                </a:solidFill>
                <a:latin typeface="Calibri"/>
              </a:rPr>
              <a:t>18 May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0080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444444"/>
                </a:solidFill>
                <a:latin typeface="Calibri"/>
              </a:rPr>
              <a:t>1 / 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0080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  <a:latin typeface="Calibri"/>
              </a:rPr>
              <a:t>GroupXX — SemEval-2026 Task 5 (Final)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01168"/>
            <a:ext cx="11521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B3D91"/>
                </a:solidFill>
                <a:latin typeface="Calibri"/>
              </a:rPr>
              <a:t>The task: rate plausibility, don't pick a sense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365760" y="914400"/>
            <a:ext cx="11430000" cy="0"/>
          </a:xfrm>
          <a:prstGeom prst="line">
            <a:avLst/>
          </a:prstGeom>
          <a:ln w="15240">
            <a:solidFill>
              <a:srgbClr val="0B3D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10972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B3D91"/>
                </a:solidFill>
                <a:latin typeface="Calibri"/>
              </a:rPr>
              <a:t>f(story, homonym, candidate gloss) → rating in [1,5]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112471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444444"/>
                </a:solidFill>
                <a:latin typeface="Calibri"/>
              </a:rPr>
              <a:t>• Input: 5-sentence story (precontext · target sentence · ending) + homonym + one gloss.</a:t>
            </a:r>
          </a:p>
          <a:p>
            <a:pPr algn="l"/>
            <a:r>
              <a:rPr sz="1700" b="0" i="0">
                <a:solidFill>
                  <a:srgbClr val="444444"/>
                </a:solidFill>
                <a:latin typeface="Calibri"/>
              </a:rPr>
              <a:t>• Output: human-average plausibility; five annotators rate each item.</a:t>
            </a:r>
          </a:p>
          <a:p>
            <a:pPr algn="l"/>
            <a:r>
              <a:rPr sz="1700" b="0" i="0">
                <a:solidFill>
                  <a:srgbClr val="444444"/>
                </a:solidFill>
                <a:latin typeface="Calibri"/>
              </a:rPr>
              <a:t>• Multiple senses can be plausible at once — unlike single-label WSD.</a:t>
            </a:r>
          </a:p>
          <a:p>
            <a:pPr algn="l"/>
            <a:r>
              <a:rPr sz="1700" b="0" i="0">
                <a:solidFill>
                  <a:srgbClr val="444444"/>
                </a:solidFill>
                <a:latin typeface="Calibri"/>
              </a:rPr>
              <a:t>• Official scorer: Spearman ρ vs. human mean + accuracy@std (within 1σ or |err|&lt;1).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9319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B3D91"/>
                </a:solidFill>
                <a:latin typeface="Calibri"/>
              </a:rPr>
              <a:t>Example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297680"/>
            <a:ext cx="11247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444444"/>
                </a:solidFill>
                <a:latin typeface="Calibri"/>
              </a:rPr>
              <a:t>homonym: track   gloss: a pair of parallel rails …</a:t>
            </a:r>
          </a:p>
          <a:p>
            <a:pPr algn="l"/>
            <a:r>
              <a:rPr sz="1400" b="0" i="1">
                <a:solidFill>
                  <a:srgbClr val="444444"/>
                </a:solidFill>
                <a:latin typeface="Calibri"/>
              </a:rPr>
              <a:t>story: detectives at an abandoned train station … 'They followed the track.' …</a:t>
            </a:r>
          </a:p>
          <a:p>
            <a:pPr algn="l"/>
            <a:r>
              <a:rPr sz="1400" b="0" i="1">
                <a:solidFill>
                  <a:srgbClr val="444444"/>
                </a:solidFill>
                <a:latin typeface="Calibri"/>
              </a:rPr>
              <a:t>annotator votes 4,5,3,1,5 → average 3.6, σ 1.67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0080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444444"/>
                </a:solidFill>
                <a:latin typeface="Calibri"/>
              </a:rPr>
              <a:t>2 / 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0080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  <a:latin typeface="Calibri"/>
              </a:rPr>
              <a:t>GroupXX — SemEval-2026 Task 5 (Final)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01168"/>
            <a:ext cx="11521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B3D91"/>
                </a:solidFill>
                <a:latin typeface="Calibri"/>
              </a:rPr>
              <a:t>Why it is hard — two data facts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365760" y="914400"/>
            <a:ext cx="11430000" cy="0"/>
          </a:xfrm>
          <a:prstGeom prst="line">
            <a:avLst/>
          </a:prstGeom>
          <a:ln w="15240">
            <a:solidFill>
              <a:srgbClr val="0B3D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1051560"/>
            <a:ext cx="56692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44444"/>
                </a:solidFill>
                <a:latin typeface="Calibri"/>
              </a:rPr>
              <a:t>1) Graded, multi-annotator target</a:t>
            </a:r>
          </a:p>
          <a:p>
            <a:pPr algn="l"/>
            <a:r>
              <a:rPr sz="1600" b="0" i="0">
                <a:solidFill>
                  <a:srgbClr val="444444"/>
                </a:solidFill>
                <a:latin typeface="Calibri"/>
              </a:rPr>
              <a:t>   • disagreement is signal, not noise</a:t>
            </a:r>
          </a:p>
          <a:p>
            <a:pPr algn="l"/>
            <a:r>
              <a:rPr sz="1600" b="0" i="0">
                <a:solidFill>
                  <a:srgbClr val="444444"/>
                </a:solidFill>
                <a:latin typeface="Calibri"/>
              </a:rPr>
              <a:t>   • 35% of train has σ ≥ 1.2 → metric ceiling</a:t>
            </a:r>
          </a:p>
          <a:p>
            <a:pPr algn="l"/>
            <a:r>
              <a:rPr sz="1600" b="0" i="0">
                <a:solidFill>
                  <a:srgbClr val="444444"/>
                </a:solidFill>
                <a:latin typeface="Calibri"/>
              </a:rPr>
              <a:t/>
            </a:r>
          </a:p>
          <a:p>
            <a:pPr algn="l"/>
            <a:r>
              <a:rPr sz="1600" b="0" i="0">
                <a:solidFill>
                  <a:srgbClr val="444444"/>
                </a:solidFill>
                <a:latin typeface="Calibri"/>
              </a:rPr>
              <a:t>2) Near homonym-disjoint splits</a:t>
            </a:r>
          </a:p>
          <a:p>
            <a:pPr algn="l"/>
            <a:r>
              <a:rPr sz="1600" b="0" i="0">
                <a:solidFill>
                  <a:srgbClr val="444444"/>
                </a:solidFill>
                <a:latin typeface="Calibri"/>
              </a:rPr>
              <a:t>   • dev ∩ train homonyms = 0</a:t>
            </a:r>
          </a:p>
          <a:p>
            <a:pPr algn="l"/>
            <a:r>
              <a:rPr sz="1600" b="0" i="0">
                <a:solidFill>
                  <a:srgbClr val="444444"/>
                </a:solidFill>
                <a:latin typeface="Calibri"/>
              </a:rPr>
              <a:t>   • test ∩ train = 1</a:t>
            </a:r>
          </a:p>
          <a:p>
            <a:pPr algn="l"/>
            <a:r>
              <a:rPr sz="1600" b="0" i="0">
                <a:solidFill>
                  <a:srgbClr val="444444"/>
                </a:solidFill>
                <a:latin typeface="Calibri"/>
              </a:rPr>
              <a:t>   • lexical memorisation cannot transfer</a:t>
            </a:r>
          </a:p>
          <a:p>
            <a:pPr algn="l"/>
            <a:r>
              <a:rPr sz="1600" b="0" i="0">
                <a:solidFill>
                  <a:srgbClr val="444444"/>
                </a:solidFill>
                <a:latin typeface="Calibri"/>
              </a:rPr>
              <a:t>   • milestone lexical best ≈ 0.55 / 0.19</a:t>
            </a:r>
          </a:p>
        </p:txBody>
      </p:sp>
      <p:pic>
        <p:nvPicPr>
          <p:cNvPr id="5" name="Picture 4" descr="fig1_label_ed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097280"/>
            <a:ext cx="5486400" cy="247616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607040" y="640080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444444"/>
                </a:solidFill>
                <a:latin typeface="Calibri"/>
              </a:rPr>
              <a:t>3 /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0080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  <a:latin typeface="Calibri"/>
              </a:rPr>
              <a:t>GroupXX — SemEval-2026 Task 5 (Final)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01168"/>
            <a:ext cx="11521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B3D91"/>
                </a:solidFill>
                <a:latin typeface="Calibri"/>
              </a:rPr>
              <a:t>Metrics, rubric, and a key scorer insight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365760" y="914400"/>
            <a:ext cx="11430000" cy="0"/>
          </a:xfrm>
          <a:prstGeom prst="line">
            <a:avLst/>
          </a:prstGeom>
          <a:ln w="15240">
            <a:solidFill>
              <a:srgbClr val="0B3D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1097280"/>
            <a:ext cx="11247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444444"/>
                </a:solidFill>
                <a:latin typeface="Calibri"/>
              </a:rPr>
              <a:t>• OK = acc@std ≥ 0.70 &amp; ρ ≥ 0.60   |   Good = ≥ 0.80 &amp; ≥ 0.70</a:t>
            </a:r>
          </a:p>
          <a:p>
            <a:pPr algn="l"/>
            <a:r>
              <a:rPr sz="1700" b="0" i="0">
                <a:solidFill>
                  <a:srgbClr val="444444"/>
                </a:solidFill>
                <a:latin typeface="Calibri"/>
              </a:rPr>
              <a:t>• scoring.py consumes the RAW prediction value (float allowed).</a:t>
            </a:r>
          </a:p>
          <a:p>
            <a:pPr algn="l"/>
            <a:r>
              <a:rPr sz="1700" b="0" i="0">
                <a:solidFill>
                  <a:srgbClr val="444444"/>
                </a:solidFill>
                <a:latin typeface="Calibri"/>
              </a:rPr>
              <a:t>• format_check only int-casts for a non-fatal warning.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92608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B3D91"/>
                </a:solidFill>
                <a:latin typeface="Calibri"/>
              </a:rPr>
              <a:t>⇒ Submitting calibrated CONTINUOUS ratings (not rounded) lifts Spearman +0.328 → +0.370 at zero modelling cost.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206240"/>
            <a:ext cx="11247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444444"/>
                </a:solidFill>
                <a:latin typeface="Calibri"/>
              </a:rPr>
              <a:t>We submit continuous; an integer file is kept for the strict variant and the ablation. Every tuning decision uses a homonym-disjoint train hold-out — dev is report-only.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0080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444444"/>
                </a:solidFill>
                <a:latin typeface="Calibri"/>
              </a:rPr>
              <a:t>4 / 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0080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  <a:latin typeface="Calibri"/>
              </a:rPr>
              <a:t>GroupXX — SemEval-2026 Task 5 (Final)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01168"/>
            <a:ext cx="11521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B3D91"/>
                </a:solidFill>
                <a:latin typeface="Calibri"/>
              </a:rPr>
              <a:t>System: a 3-component calibrated ensemble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365760" y="914400"/>
            <a:ext cx="11430000" cy="0"/>
          </a:xfrm>
          <a:prstGeom prst="line">
            <a:avLst/>
          </a:prstGeom>
          <a:ln w="15240">
            <a:solidFill>
              <a:srgbClr val="0B3D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1188720"/>
            <a:ext cx="112471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444444"/>
                </a:solidFill>
                <a:latin typeface="Calibri"/>
              </a:rPr>
              <a:t>A · Zero-shot NLI (no training): story ⊨ "&lt;homonym&gt; means &lt;gloss&gt;"  → calibrate</a:t>
            </a:r>
          </a:p>
          <a:p>
            <a:pPr algn="l"/>
            <a:r>
              <a:rPr sz="1700" b="0" i="0">
                <a:solidFill>
                  <a:srgbClr val="444444"/>
                </a:solidFill>
                <a:latin typeface="Calibri"/>
              </a:rPr>
              <a:t>B · Gloss-informed encoder regressor: DeBERTa-v3-large, MSE on human mean</a:t>
            </a:r>
          </a:p>
          <a:p>
            <a:pPr algn="l"/>
            <a:r>
              <a:rPr sz="1700" b="0" i="0">
                <a:solidFill>
                  <a:srgbClr val="444444"/>
                </a:solidFill>
                <a:latin typeface="Calibri"/>
              </a:rPr>
              <a:t>C · NOVEL Likert-distribution head: predict 5-vote distribution, read E[k] + variance</a:t>
            </a:r>
          </a:p>
          <a:p>
            <a:pPr algn="l"/>
            <a:r>
              <a:rPr sz="1700" b="0" i="0">
                <a:solidFill>
                  <a:srgbClr val="444444"/>
                </a:solidFill>
                <a:latin typeface="Calibri"/>
              </a:rPr>
              <a:t/>
            </a:r>
          </a:p>
          <a:p>
            <a:pPr algn="l"/>
            <a:r>
              <a:rPr sz="1700" b="0" i="0">
                <a:solidFill>
                  <a:srgbClr val="444444"/>
                </a:solidFill>
                <a:latin typeface="Calibri"/>
              </a:rPr>
              <a:t>Ensemble: convex weights tuned on the homonym-disjoint hold-out + isotonic</a:t>
            </a:r>
          </a:p>
          <a:p>
            <a:pPr algn="l"/>
            <a:r>
              <a:rPr sz="1700" b="0" i="0">
                <a:solidFill>
                  <a:srgbClr val="444444"/>
                </a:solidFill>
                <a:latin typeface="Calibri"/>
              </a:rPr>
              <a:t>   tuned weights  A 0.60 · B 0.20 · C 0.20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846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444444"/>
                </a:solidFill>
                <a:latin typeface="Calibri"/>
              </a:rPr>
              <a:t>Open-source HuggingFace models only — no API, fully reproducible.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0080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444444"/>
                </a:solidFill>
                <a:latin typeface="Calibri"/>
              </a:rPr>
              <a:t>5 /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0080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  <a:latin typeface="Calibri"/>
              </a:rPr>
              <a:t>GroupXX — SemEval-2026 Task 5 (Final)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01168"/>
            <a:ext cx="11521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B3D91"/>
                </a:solidFill>
                <a:latin typeface="Calibri"/>
              </a:rPr>
              <a:t>Component A — zero-shot NLI (training-free)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365760" y="914400"/>
            <a:ext cx="11430000" cy="0"/>
          </a:xfrm>
          <a:prstGeom prst="line">
            <a:avLst/>
          </a:prstGeom>
          <a:ln w="15240">
            <a:solidFill>
              <a:srgbClr val="0B3D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1097280"/>
            <a:ext cx="112471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444444"/>
                </a:solidFill>
                <a:latin typeface="Calibri"/>
              </a:rPr>
              <a:t>• premise = full story;  hypothesis = 'In this story, "&lt;homonym&gt;" means &lt;gloss&gt;.'</a:t>
            </a:r>
          </a:p>
          <a:p>
            <a:pPr algn="l"/>
            <a:r>
              <a:rPr sz="1700" b="0" i="0">
                <a:solidFill>
                  <a:srgbClr val="444444"/>
                </a:solidFill>
                <a:latin typeface="Calibri"/>
              </a:rPr>
              <a:t>• signal s = P(entail) − P(contradiction), 2 templates averaged</a:t>
            </a:r>
          </a:p>
          <a:p>
            <a:pPr algn="l"/>
            <a:r>
              <a:rPr sz="1700" b="0" i="0">
                <a:solidFill>
                  <a:srgbClr val="444444"/>
                </a:solidFill>
                <a:latin typeface="Calibri"/>
              </a:rPr>
              <a:t>• calibrate s → [1,5] with isotonic regression on the hold-out</a:t>
            </a:r>
          </a:p>
          <a:p>
            <a:pPr algn="l"/>
            <a:r>
              <a:rPr sz="1700" b="0" i="0">
                <a:solidFill>
                  <a:srgbClr val="444444"/>
                </a:solidFill>
                <a:latin typeface="Calibri"/>
              </a:rPr>
              <a:t>• checkpoint: DeBERTa-v3-large-mnli (GPU) / distilbert-mnli (CPU)</a:t>
            </a:r>
          </a:p>
          <a:p>
            <a:pPr algn="l"/>
            <a:r>
              <a:rPr sz="1700" b="0" i="0">
                <a:solidFill>
                  <a:srgbClr val="444444"/>
                </a:solidFill>
                <a:latin typeface="Calibri"/>
              </a:rPr>
              <a:t>• generalises across the strict split — NLI knowledge is homonym-agnostic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29768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B3D91"/>
                </a:solidFill>
                <a:latin typeface="Calibri"/>
              </a:rPr>
              <a:t>dev: acc@std 0.590 · ρ +0.142   (isotonic vs linear calibration: +0.142 vs +0.153)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0080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444444"/>
                </a:solidFill>
                <a:latin typeface="Calibri"/>
              </a:rPr>
              <a:t>6 /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0080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  <a:latin typeface="Calibri"/>
              </a:rPr>
              <a:t>GroupXX — SemEval-2026 Task 5 (Final)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01168"/>
            <a:ext cx="11521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B3D91"/>
                </a:solidFill>
                <a:latin typeface="Calibri"/>
              </a:rPr>
              <a:t>Component B — gloss-informed regressor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365760" y="914400"/>
            <a:ext cx="11430000" cy="0"/>
          </a:xfrm>
          <a:prstGeom prst="line">
            <a:avLst/>
          </a:prstGeom>
          <a:ln w="15240">
            <a:solidFill>
              <a:srgbClr val="0B3D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1097280"/>
            <a:ext cx="112471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444444"/>
                </a:solidFill>
                <a:latin typeface="Calibri"/>
              </a:rPr>
              <a:t>• input: [sentence] || homonym: gloss [example] … [story] precontext ending</a:t>
            </a:r>
          </a:p>
          <a:p>
            <a:pPr algn="l"/>
            <a:r>
              <a:rPr sz="1700" b="0" i="0">
                <a:solidFill>
                  <a:srgbClr val="444444"/>
                </a:solidFill>
                <a:latin typeface="Calibri"/>
              </a:rPr>
              <a:t>• gloss next to the lexical anchor (Blevins &amp; Zettlemoyer, ACL 2020)</a:t>
            </a:r>
          </a:p>
          <a:p>
            <a:pPr algn="l"/>
            <a:r>
              <a:rPr sz="1700" b="0" i="0">
                <a:solidFill>
                  <a:srgbClr val="444444"/>
                </a:solidFill>
                <a:latin typeface="Calibri"/>
              </a:rPr>
              <a:t>• linear head on [CLS], MSE vs human mean, z-scored target</a:t>
            </a:r>
          </a:p>
          <a:p>
            <a:pPr algn="l"/>
            <a:r>
              <a:rPr sz="1700" b="0" i="0">
                <a:solidFill>
                  <a:srgbClr val="444444"/>
                </a:solidFill>
                <a:latin typeface="Calibri"/>
              </a:rPr>
              <a:t>• lr 1e-5, 4 epochs, warmup, grad-clip, fp16; early-stop on hold-out ρ</a:t>
            </a:r>
          </a:p>
          <a:p>
            <a:pPr algn="l"/>
            <a:r>
              <a:rPr sz="1700" b="0" i="0">
                <a:solidFill>
                  <a:srgbClr val="444444"/>
                </a:solidFill>
                <a:latin typeface="Calibri"/>
              </a:rPr>
              <a:t>• 3 seeds {13,42,123} averaged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3891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B3D91"/>
                </a:solidFill>
                <a:latin typeface="Calibri"/>
              </a:rPr>
              <a:t>dev: acc@std 0.650 · ρ +0.324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0080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444444"/>
                </a:solidFill>
                <a:latin typeface="Calibri"/>
              </a:rPr>
              <a:t>7 /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0080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  <a:latin typeface="Calibri"/>
              </a:rPr>
              <a:t>GroupXX — SemEval-2026 Task 5 (Final)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01168"/>
            <a:ext cx="11521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B3D91"/>
                </a:solidFill>
                <a:latin typeface="Calibri"/>
              </a:rPr>
              <a:t>Component C — NOVEL Likert-distribution head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365760" y="914400"/>
            <a:ext cx="11430000" cy="0"/>
          </a:xfrm>
          <a:prstGeom prst="line">
            <a:avLst/>
          </a:prstGeom>
          <a:ln w="15240">
            <a:solidFill>
              <a:srgbClr val="0B3D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1051560"/>
            <a:ext cx="112471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44444"/>
                </a:solidFill>
                <a:latin typeface="Calibri"/>
              </a:rPr>
              <a:t>Predict the full 5-vote distribution p = softmax(Wh):</a:t>
            </a:r>
          </a:p>
          <a:p>
            <a:pPr algn="l"/>
            <a:r>
              <a:rPr sz="1600" b="0" i="0">
                <a:solidFill>
                  <a:srgbClr val="444444"/>
                </a:solidFill>
                <a:latin typeface="Calibri"/>
              </a:rPr>
              <a:t>   loss = KL(empirical votes ‖ p) + 0.3·MSE(Σ k·p_k, mean)</a:t>
            </a:r>
          </a:p>
          <a:p>
            <a:pPr algn="l"/>
            <a:r>
              <a:rPr sz="1600" b="0" i="0">
                <a:solidFill>
                  <a:srgbClr val="444444"/>
                </a:solidFill>
                <a:latin typeface="Calibri"/>
              </a:rPr>
              <a:t>   prediction = E[k] = Σ k·p_k   → intrinsically continuous in [1,5]</a:t>
            </a:r>
          </a:p>
          <a:p>
            <a:pPr algn="l"/>
            <a:r>
              <a:rPr sz="1600" b="0" i="0">
                <a:solidFill>
                  <a:srgbClr val="444444"/>
                </a:solidFill>
                <a:latin typeface="Calibri"/>
              </a:rPr>
              <a:t>   uncertainty = Σ p_k (k−E)²    → free per-sample confidence</a:t>
            </a:r>
          </a:p>
          <a:p>
            <a:pPr algn="l"/>
            <a:r>
              <a:rPr sz="1600" b="0" i="0">
                <a:solidFill>
                  <a:srgbClr val="444444"/>
                </a:solidFill>
                <a:latin typeface="Calibri"/>
              </a:rPr>
              <a:t/>
            </a:r>
          </a:p>
          <a:p>
            <a:pPr algn="l"/>
            <a:r>
              <a:rPr sz="1600" b="0" i="0">
                <a:solidFill>
                  <a:srgbClr val="444444"/>
                </a:solidFill>
                <a:latin typeface="Calibri"/>
              </a:rPr>
              <a:t>Why novel for this task: it models the annotator disagreement the data</a:t>
            </a:r>
          </a:p>
          <a:p>
            <a:pPr algn="l"/>
            <a:r>
              <a:rPr sz="1600" b="0" i="0">
                <a:solidFill>
                  <a:srgbClr val="444444"/>
                </a:solidFill>
                <a:latin typeface="Calibri"/>
              </a:rPr>
              <a:t>explicitly provides; a mean-only objective discards it. Uncertainty is</a:t>
            </a:r>
          </a:p>
          <a:p>
            <a:pPr algn="l"/>
            <a:r>
              <a:rPr sz="1600" b="0" i="0">
                <a:solidFill>
                  <a:srgbClr val="444444"/>
                </a:solidFill>
                <a:latin typeface="Calibri"/>
              </a:rPr>
              <a:t>reused to gate the ensemble (second novel use).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B3D91"/>
                </a:solidFill>
                <a:latin typeface="Calibri"/>
              </a:rPr>
              <a:t>dev: acc@std 0.682 · ρ +0.395   |   head objective: dist +0.395 vs CORN n/a vs MSE +0.324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0080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444444"/>
                </a:solidFill>
                <a:latin typeface="Calibri"/>
              </a:rPr>
              <a:t>8 /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0080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  <a:latin typeface="Calibri"/>
              </a:rPr>
              <a:t>GroupXX — SemEval-2026 Task 5 (Final)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01168"/>
            <a:ext cx="11521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B3D91"/>
                </a:solidFill>
                <a:latin typeface="Calibri"/>
              </a:rPr>
              <a:t>Ensemble &amp; honest evaluation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365760" y="914400"/>
            <a:ext cx="11430000" cy="0"/>
          </a:xfrm>
          <a:prstGeom prst="line">
            <a:avLst/>
          </a:prstGeom>
          <a:ln w="15240">
            <a:solidFill>
              <a:srgbClr val="0B3D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1188720"/>
            <a:ext cx="112471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444444"/>
                </a:solidFill>
                <a:latin typeface="Calibri"/>
              </a:rPr>
              <a:t>• convex weight grid search maximising hold-out Spearman</a:t>
            </a:r>
          </a:p>
          <a:p>
            <a:pPr algn="l"/>
            <a:r>
              <a:rPr sz="1700" b="0" i="0">
                <a:solidFill>
                  <a:srgbClr val="444444"/>
                </a:solidFill>
                <a:latin typeface="Calibri"/>
              </a:rPr>
              <a:t>• one final isotonic calibration on the hold-out, clip [1,5]</a:t>
            </a:r>
          </a:p>
          <a:p>
            <a:pPr algn="l"/>
            <a:r>
              <a:rPr sz="1700" b="0" i="0">
                <a:solidFill>
                  <a:srgbClr val="444444"/>
                </a:solidFill>
                <a:latin typeface="Calibri"/>
              </a:rPr>
              <a:t>• uncertainty-gated variant (ablation): shrink C where it is unsure</a:t>
            </a:r>
          </a:p>
          <a:p>
            <a:pPr algn="l"/>
            <a:r>
              <a:rPr sz="1700" b="0" i="0">
                <a:solidFill>
                  <a:srgbClr val="444444"/>
                </a:solidFill>
                <a:latin typeface="Calibri"/>
              </a:rPr>
              <a:t>• dev is NEVER tuned on — it mirrors the hidden test (homonym-disjoint)</a:t>
            </a:r>
          </a:p>
          <a:p>
            <a:pPr algn="l"/>
            <a:r>
              <a:rPr sz="1700" b="0" i="0">
                <a:solidFill>
                  <a:srgbClr val="444444"/>
                </a:solidFill>
                <a:latin typeface="Calibri"/>
              </a:rPr>
              <a:t>• all numbers reported by the official scoring.py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444444"/>
                </a:solidFill>
                <a:latin typeface="Calibri"/>
              </a:rPr>
              <a:t>runtime that produced these numbers: CPU (roberta-base, seq128, bs4×ga4, full data, 4 epochs) — weaker than canonical GPU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0080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444444"/>
                </a:solidFill>
                <a:latin typeface="Calibri"/>
              </a:rPr>
              <a:t>9 /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0080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  <a:latin typeface="Calibri"/>
              </a:rPr>
              <a:t>GroupXX — SemEval-2026 Task 5 (Final)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01168"/>
            <a:ext cx="11521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B3D91"/>
                </a:solidFill>
                <a:latin typeface="Calibri"/>
              </a:rPr>
              <a:t>Results — baselines → components → ensemble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365760" y="914400"/>
            <a:ext cx="11430000" cy="0"/>
          </a:xfrm>
          <a:prstGeom prst="line">
            <a:avLst/>
          </a:prstGeom>
          <a:ln w="15240">
            <a:solidFill>
              <a:srgbClr val="0B3D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fig9_sota_baseline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0" y="1097280"/>
            <a:ext cx="9601200" cy="546613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57607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B3D91"/>
                </a:solidFill>
                <a:latin typeface="Calibri"/>
              </a:rPr>
              <a:t>Ensemble dev: acc@std 0.653 · ρ +0.370 → Below OK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0080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444444"/>
                </a:solidFill>
                <a:latin typeface="Calibri"/>
              </a:rPr>
              <a:t>10 /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0080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  <a:latin typeface="Calibri"/>
              </a:rPr>
              <a:t>GroupXX — SemEval-2026 Task 5 (Final)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01168"/>
            <a:ext cx="11521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B3D91"/>
                </a:solidFill>
                <a:latin typeface="Calibri"/>
              </a:rPr>
              <a:t>Classification view: confusion &amp; per-class F1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365760" y="914400"/>
            <a:ext cx="11430000" cy="0"/>
          </a:xfrm>
          <a:prstGeom prst="line">
            <a:avLst/>
          </a:prstGeom>
          <a:ln w="15240">
            <a:solidFill>
              <a:srgbClr val="0B3D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fig2_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97280"/>
            <a:ext cx="5394960" cy="5012640"/>
          </a:xfrm>
          <a:prstGeom prst="rect">
            <a:avLst/>
          </a:prstGeom>
        </p:spPr>
      </p:pic>
      <p:pic>
        <p:nvPicPr>
          <p:cNvPr id="5" name="Picture 4" descr="fig3_per_class_f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280160"/>
            <a:ext cx="5486400" cy="401373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585216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444444"/>
                </a:solidFill>
                <a:latin typeface="Calibri"/>
              </a:rPr>
              <a:t>macro-F1 0.229 · macro-P 0.354 · macro-R 0.252 (rounded 5-way view)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0080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444444"/>
                </a:solidFill>
                <a:latin typeface="Calibri"/>
              </a:rPr>
              <a:t>11 / 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0080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  <a:latin typeface="Calibri"/>
              </a:rPr>
              <a:t>GroupXX — SemEval-2026 Task 5 (Final)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01168"/>
            <a:ext cx="11521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B3D91"/>
                </a:solidFill>
                <a:latin typeface="Calibri"/>
              </a:rPr>
              <a:t>Calibration &amp; training curves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365760" y="914400"/>
            <a:ext cx="11430000" cy="0"/>
          </a:xfrm>
          <a:prstGeom prst="line">
            <a:avLst/>
          </a:prstGeom>
          <a:ln w="15240">
            <a:solidFill>
              <a:srgbClr val="0B3D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fig6_calib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97280"/>
            <a:ext cx="5394960" cy="5153551"/>
          </a:xfrm>
          <a:prstGeom prst="rect">
            <a:avLst/>
          </a:prstGeom>
        </p:spPr>
      </p:pic>
      <p:pic>
        <p:nvPicPr>
          <p:cNvPr id="5" name="Picture 4" descr="fig7_training_curv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188720"/>
            <a:ext cx="5486400" cy="39842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607040" y="640080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444444"/>
                </a:solidFill>
                <a:latin typeface="Calibri"/>
              </a:rPr>
              <a:t>12 /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0080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  <a:latin typeface="Calibri"/>
              </a:rPr>
              <a:t>GroupXX — SemEval-2026 Task 5 (Final)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01168"/>
            <a:ext cx="11521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B3D91"/>
                </a:solidFill>
                <a:latin typeface="Calibri"/>
              </a:rPr>
              <a:t>The journey — ablations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365760" y="914400"/>
            <a:ext cx="11430000" cy="0"/>
          </a:xfrm>
          <a:prstGeom prst="line">
            <a:avLst/>
          </a:prstGeom>
          <a:ln w="15240">
            <a:solidFill>
              <a:srgbClr val="0B3D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fig8_abla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143000"/>
            <a:ext cx="10881360" cy="354844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585216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444444"/>
                </a:solidFill>
                <a:latin typeface="Calibri"/>
              </a:rPr>
              <a:t>continuous-vs-int · NLI calibration · head objective · ensemble drop-one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0080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444444"/>
                </a:solidFill>
                <a:latin typeface="Calibri"/>
              </a:rPr>
              <a:t>13 /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0080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  <a:latin typeface="Calibri"/>
              </a:rPr>
              <a:t>GroupXX — SemEval-2026 Task 5 (Final)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01168"/>
            <a:ext cx="11521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B3D91"/>
                </a:solidFill>
                <a:latin typeface="Calibri"/>
              </a:rPr>
              <a:t>Novelty payoff — uncertainty tracks error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365760" y="914400"/>
            <a:ext cx="11430000" cy="0"/>
          </a:xfrm>
          <a:prstGeom prst="line">
            <a:avLst/>
          </a:prstGeom>
          <a:ln w="15240">
            <a:solidFill>
              <a:srgbClr val="0B3D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fig10_uncertainty_vs_err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1188720"/>
            <a:ext cx="6675120" cy="498913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57607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444444"/>
                </a:solidFill>
                <a:latin typeface="Calibri"/>
              </a:rPr>
              <a:t>Component C's predicted variance correlates with absolute error — used to gate the ensemble.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0080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444444"/>
                </a:solidFill>
                <a:latin typeface="Calibri"/>
              </a:rPr>
              <a:t>14 /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0080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  <a:latin typeface="Calibri"/>
              </a:rPr>
              <a:t>GroupXX — SemEval-2026 Task 5 (Final)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01168"/>
            <a:ext cx="11521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B3D91"/>
                </a:solidFill>
                <a:latin typeface="Calibri"/>
              </a:rPr>
              <a:t>Related work (cited)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365760" y="914400"/>
            <a:ext cx="11430000" cy="0"/>
          </a:xfrm>
          <a:prstGeom prst="line">
            <a:avLst/>
          </a:prstGeom>
          <a:ln w="15240">
            <a:solidFill>
              <a:srgbClr val="0B3D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1097280"/>
            <a:ext cx="11247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44444"/>
                </a:solidFill>
                <a:latin typeface="Calibri"/>
              </a:rPr>
              <a:t>• Pilehvar &amp; Camacho-Collados, WiC — NAACL 2019</a:t>
            </a:r>
          </a:p>
          <a:p>
            <a:pPr algn="l"/>
            <a:r>
              <a:rPr sz="1600" b="0" i="0">
                <a:solidFill>
                  <a:srgbClr val="444444"/>
                </a:solidFill>
                <a:latin typeface="Calibri"/>
              </a:rPr>
              <a:t>• Blevins &amp; Zettlemoyer, gloss-informed biencoders — ACL 2020  (we adapt)</a:t>
            </a:r>
          </a:p>
          <a:p>
            <a:pPr algn="l"/>
            <a:r>
              <a:rPr sz="1600" b="0" i="0">
                <a:solidFill>
                  <a:srgbClr val="444444"/>
                </a:solidFill>
                <a:latin typeface="Calibri"/>
              </a:rPr>
              <a:t>• Yin, Hay &amp; Roth, zero-shot via NLI — EMNLP 2019  (we apply)</a:t>
            </a:r>
          </a:p>
          <a:p>
            <a:pPr algn="l"/>
            <a:r>
              <a:rPr sz="1600" b="0" i="0">
                <a:solidFill>
                  <a:srgbClr val="444444"/>
                </a:solidFill>
                <a:latin typeface="Calibri"/>
              </a:rPr>
              <a:t>• Williams et al., MNLI — NAACL 2018 ; Bowman et al., SNLI — EMNLP 2015</a:t>
            </a:r>
          </a:p>
          <a:p>
            <a:pPr algn="l"/>
            <a:r>
              <a:rPr sz="1600" b="0" i="0">
                <a:solidFill>
                  <a:srgbClr val="444444"/>
                </a:solidFill>
                <a:latin typeface="Calibri"/>
              </a:rPr>
              <a:t>• Devlin et al., BERT — NAACL 2019 ; Reimers &amp; Gurevych, SBERT — EMNLP 2019</a:t>
            </a:r>
          </a:p>
          <a:p>
            <a:pPr algn="l"/>
            <a:r>
              <a:rPr sz="1600" b="0" i="0">
                <a:solidFill>
                  <a:srgbClr val="444444"/>
                </a:solidFill>
                <a:latin typeface="Calibri"/>
              </a:rPr>
              <a:t>• Loureiro &amp; Jorge, LMMS — ACL 2019 ; Brown et al. — NeurIPS 2020</a:t>
            </a:r>
          </a:p>
          <a:p>
            <a:pPr algn="l"/>
            <a:r>
              <a:rPr sz="1600" b="0" i="0">
                <a:solidFill>
                  <a:srgbClr val="444444"/>
                </a:solidFill>
                <a:latin typeface="Calibri"/>
              </a:rPr>
              <a:t>• Cao, Mirjalili &amp; Raschka, rank-consistent ordinal — Pattern Recog. Letters 2020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444444"/>
                </a:solidFill>
                <a:latin typeface="Calibri"/>
              </a:rPr>
              <a:t>15 / 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0080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  <a:latin typeface="Calibri"/>
              </a:rPr>
              <a:t>GroupXX — SemEval-2026 Task 5 (Final)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01168"/>
            <a:ext cx="11521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B3D91"/>
                </a:solidFill>
                <a:latin typeface="Calibri"/>
              </a:rPr>
              <a:t>Individual contributions &amp; takeaways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365760" y="914400"/>
            <a:ext cx="11430000" cy="0"/>
          </a:xfrm>
          <a:prstGeom prst="line">
            <a:avLst/>
          </a:prstGeom>
          <a:ln w="15240">
            <a:solidFill>
              <a:srgbClr val="0B3D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1097280"/>
            <a:ext cx="1124712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444444"/>
                </a:solidFill>
                <a:latin typeface="Calibri"/>
              </a:rPr>
              <a:t>Member 1 — Component A (NLI), related work, results &amp; ablations</a:t>
            </a:r>
          </a:p>
          <a:p>
            <a:pPr algn="l"/>
            <a:r>
              <a:rPr sz="1700" b="0" i="0">
                <a:solidFill>
                  <a:srgbClr val="444444"/>
                </a:solidFill>
                <a:latin typeface="Calibri"/>
              </a:rPr>
              <a:t>Member 2 — Component B (regressor), data pipeline &amp; holdout, methodology</a:t>
            </a:r>
          </a:p>
          <a:p>
            <a:pPr algn="l"/>
            <a:r>
              <a:rPr sz="1700" b="0" i="0">
                <a:solidFill>
                  <a:srgbClr val="444444"/>
                </a:solidFill>
                <a:latin typeface="Calibri"/>
              </a:rPr>
              <a:t>Member 3 — Component C (novel head), ensemble, figures, reproducibility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0"/>
            <a:ext cx="112471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B3D91"/>
                </a:solidFill>
                <a:latin typeface="Calibri"/>
              </a:rPr>
              <a:t>Takeaways:</a:t>
            </a:r>
          </a:p>
          <a:p>
            <a:pPr algn="l"/>
            <a:r>
              <a:rPr sz="1600" b="0" i="0">
                <a:solidFill>
                  <a:srgbClr val="0B3D91"/>
                </a:solidFill>
                <a:latin typeface="Calibri"/>
              </a:rPr>
              <a:t>• Semantic priors + disagreement modelling beat lexical memorisation on a strict split.</a:t>
            </a:r>
          </a:p>
          <a:p>
            <a:pPr algn="l"/>
            <a:r>
              <a:rPr sz="1600" b="0" i="0">
                <a:solidFill>
                  <a:srgbClr val="0B3D91"/>
                </a:solidFill>
                <a:latin typeface="Calibri"/>
              </a:rPr>
              <a:t>• A novel distribution head gives a continuous, uncertainty-aware rating.</a:t>
            </a:r>
          </a:p>
          <a:p>
            <a:pPr algn="l"/>
            <a:r>
              <a:rPr sz="1600" b="0" i="0">
                <a:solidFill>
                  <a:srgbClr val="0B3D91"/>
                </a:solidFill>
                <a:latin typeface="Calibri"/>
              </a:rPr>
              <a:t>• Ensemble: dev acc@std 0.653 / ρ +0.370 — Below OK.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7607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444444"/>
                </a:solidFill>
                <a:latin typeface="Calibri"/>
              </a:rPr>
              <a:t>Thank you — questions?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0080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444444"/>
                </a:solidFill>
                <a:latin typeface="Calibri"/>
              </a:rPr>
              <a:t>16 / 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0080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  <a:latin typeface="Calibri"/>
              </a:rPr>
              <a:t>GroupXX — SemEval-2026 Task 5 (Final)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